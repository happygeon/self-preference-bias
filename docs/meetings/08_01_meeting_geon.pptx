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5" r:id="rId5"/>
    <p:sldId id="266" r:id="rId6"/>
    <p:sldId id="267" r:id="rId7"/>
    <p:sldId id="264" r:id="rId8"/>
    <p:sldId id="258" r:id="rId9"/>
    <p:sldId id="260" r:id="rId10"/>
    <p:sldId id="261" r:id="rId11"/>
    <p:sldId id="259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25.08.01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AC0C9-3627-B75E-315C-5DC994D8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2E8F51-0CB3-DEB5-7C22-C2C2EF98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</a:t>
            </a:r>
          </a:p>
          <a:p>
            <a:r>
              <a:rPr lang="en-US" altLang="ko-KR" dirty="0"/>
              <a:t>Alpaca Eval QA set (805)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GPT-4o-mini (w. temperature 0.7)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Llama-3.1-8B-Inst (w. temperature 1.0)x2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Llama-3.1-8B-Inst (w. greedy decoding)</a:t>
            </a:r>
          </a:p>
          <a:p>
            <a:pPr marL="457200" lvl="1" indent="0">
              <a:buNone/>
            </a:pPr>
            <a:r>
              <a:rPr lang="en-US" altLang="ko-KR" dirty="0"/>
              <a:t>*</a:t>
            </a:r>
            <a:r>
              <a:rPr lang="en-US" altLang="ko-KR" dirty="0" err="1"/>
              <a:t>max_length</a:t>
            </a:r>
            <a:r>
              <a:rPr lang="en-US" altLang="ko-KR" dirty="0"/>
              <a:t> = 512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Pair-wise test</a:t>
            </a:r>
          </a:p>
          <a:p>
            <a:pPr lvl="1"/>
            <a:r>
              <a:rPr lang="en-US" altLang="ko-KR" dirty="0"/>
              <a:t>GPT-4o-mini (w. greedy decoding)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894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2F38-86BD-C307-66AB-BE166857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5F647-361C-672B-40DD-1E5F2625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D350C-9ECD-537F-B2F5-723F6FA9A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</a:t>
            </a:r>
          </a:p>
          <a:p>
            <a:r>
              <a:rPr lang="en-US" altLang="ko-KR" dirty="0"/>
              <a:t>Total:</a:t>
            </a:r>
          </a:p>
          <a:p>
            <a:pPr lvl="1"/>
            <a:r>
              <a:rPr lang="en-US" altLang="ko-KR" dirty="0"/>
              <a:t>2415 pair-wise dataset</a:t>
            </a:r>
          </a:p>
          <a:p>
            <a:pPr lvl="1"/>
            <a:r>
              <a:rPr lang="en-US" altLang="ko-KR" dirty="0"/>
              <a:t>1449 train / 483 valid / 483 test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176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144-B884-9D66-995F-CDB01483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3E800-E6A3-DAFD-2215-5D700CE3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76A98-E422-0543-F6D8-24217985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Online (v1)</a:t>
            </a:r>
          </a:p>
          <a:p>
            <a:endParaRPr lang="en-US" altLang="ko-KR" dirty="0"/>
          </a:p>
          <a:p>
            <a:r>
              <a:rPr lang="en-US" altLang="ko-KR" dirty="0"/>
              <a:t>Base LLM (frozen) : Meta-Llama 3.1-8B-Instruct</a:t>
            </a:r>
          </a:p>
          <a:p>
            <a:pPr lvl="1"/>
            <a:r>
              <a:rPr lang="en-US" altLang="ko-KR" dirty="0"/>
              <a:t>32 Transformer layers</a:t>
            </a:r>
          </a:p>
          <a:p>
            <a:pPr lvl="1"/>
            <a:r>
              <a:rPr lang="en-US" altLang="ko-KR" dirty="0"/>
              <a:t>Hidden size = 4096</a:t>
            </a:r>
          </a:p>
          <a:p>
            <a:r>
              <a:rPr lang="en-US" altLang="ko-KR" dirty="0"/>
              <a:t>Trainable Preference Head</a:t>
            </a:r>
          </a:p>
          <a:p>
            <a:pPr lvl="1"/>
            <a:r>
              <a:rPr lang="en-US" altLang="ko-KR" dirty="0"/>
              <a:t>Architecture : </a:t>
            </a:r>
          </a:p>
          <a:p>
            <a:pPr marL="914400" lvl="2" indent="0">
              <a:buNone/>
            </a:pPr>
            <a:r>
              <a:rPr lang="en-US" altLang="ko-KR" dirty="0"/>
              <a:t>Linear (4096 → 1024) → Linear (1024 → 1024) → Linear (1024 → 1)</a:t>
            </a:r>
          </a:p>
          <a:p>
            <a:pPr lvl="1"/>
            <a:r>
              <a:rPr lang="en-US" altLang="ko-KR" dirty="0"/>
              <a:t>Trainable parameters ≈ 5.25 M (≈ 0.06 % of 8 B LLM)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90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F2C3-FD49-790C-AF99-C6480B9C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28C6C-A0DF-C9BC-63F1-6EC05389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70861-15D8-FB13-56BF-1C931930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Format</a:t>
            </a:r>
          </a:p>
          <a:p>
            <a:pPr lvl="1"/>
            <a:r>
              <a:rPr lang="en-US" altLang="ko-KR" dirty="0"/>
              <a:t>JSONL row</a:t>
            </a:r>
          </a:p>
          <a:p>
            <a:pPr lvl="2"/>
            <a:r>
              <a:rPr lang="en-US" altLang="ko-KR" dirty="0"/>
              <a:t>{ "q": prompt, "win": preferred answer, "lose": dispreferred answer }</a:t>
            </a:r>
          </a:p>
          <a:p>
            <a:pPr lvl="1"/>
            <a:r>
              <a:rPr lang="en-US" altLang="ko-KR" dirty="0"/>
              <a:t>Token limits : q ≤ 128 tokens, win/lose ≤ 512 tokens</a:t>
            </a:r>
          </a:p>
          <a:p>
            <a:pPr lvl="1"/>
            <a:r>
              <a:rPr lang="en-US" altLang="ko-KR" dirty="0"/>
              <a:t>For each time-step t (1…512)</a:t>
            </a:r>
          </a:p>
          <a:p>
            <a:pPr lvl="2"/>
            <a:r>
              <a:rPr lang="en-US" altLang="ko-KR" dirty="0"/>
              <a:t>sequence = (</a:t>
            </a:r>
            <a:r>
              <a:rPr lang="en-US" altLang="ko-KR" dirty="0" err="1"/>
              <a:t>q_ids</a:t>
            </a:r>
            <a:r>
              <a:rPr lang="en-US" altLang="ko-KR" dirty="0"/>
              <a:t> + </a:t>
            </a:r>
            <a:r>
              <a:rPr lang="en-US" altLang="ko-KR" dirty="0" err="1"/>
              <a:t>answer_ids</a:t>
            </a:r>
            <a:r>
              <a:rPr lang="en-US" altLang="ko-KR" dirty="0"/>
              <a:t>[:t+1])[-512:]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Loss : </a:t>
            </a:r>
            <a:r>
              <a:rPr lang="en-US" altLang="ko-KR" dirty="0" err="1"/>
              <a:t>BCEWithLogits</a:t>
            </a:r>
            <a:r>
              <a:rPr lang="en-US" altLang="ko-KR" dirty="0"/>
              <a:t>( </a:t>
            </a:r>
            <a:r>
              <a:rPr lang="en-US" altLang="ko-KR" dirty="0" err="1"/>
              <a:t>s_win</a:t>
            </a:r>
            <a:r>
              <a:rPr lang="en-US" altLang="ko-KR" dirty="0"/>
              <a:t> − </a:t>
            </a:r>
            <a:r>
              <a:rPr lang="en-US" altLang="ko-KR" dirty="0" err="1"/>
              <a:t>s_lose</a:t>
            </a:r>
            <a:r>
              <a:rPr lang="en-US" altLang="ko-KR" dirty="0"/>
              <a:t> , 1 )</a:t>
            </a:r>
          </a:p>
          <a:p>
            <a:r>
              <a:rPr lang="en-US" altLang="ko-KR" dirty="0"/>
              <a:t>Accuracy : mean( </a:t>
            </a:r>
            <a:r>
              <a:rPr lang="en-US" altLang="ko-KR" dirty="0" err="1"/>
              <a:t>s_win</a:t>
            </a:r>
            <a:r>
              <a:rPr lang="en-US" altLang="ko-KR" dirty="0"/>
              <a:t> &gt; </a:t>
            </a:r>
            <a:r>
              <a:rPr lang="en-US" altLang="ko-KR" dirty="0" err="1"/>
              <a:t>s_lose</a:t>
            </a:r>
            <a:r>
              <a:rPr lang="en-US" altLang="ko-KR" dirty="0"/>
              <a:t>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27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4A73-ECD7-5C7A-565C-E255F69F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24CAD-5945-4122-6690-31C9C511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5EFA9-E947-4FE1-8E09-0DF1A05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</a:t>
            </a:r>
            <a:r>
              <a:rPr lang="en-US" altLang="ko-KR" dirty="0" err="1"/>
              <a:t>AdamW</a:t>
            </a:r>
            <a:endParaRPr lang="en-US" altLang="ko-KR" dirty="0"/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Batch size: 4</a:t>
            </a:r>
          </a:p>
          <a:p>
            <a:pPr lvl="1"/>
            <a:r>
              <a:rPr lang="en-US" altLang="ko-KR" dirty="0"/>
              <a:t>Epochs: 32</a:t>
            </a:r>
          </a:p>
          <a:p>
            <a:pPr lvl="1"/>
            <a:r>
              <a:rPr lang="en-US" altLang="ko-KR" dirty="0"/>
              <a:t>Max sequence length: 512</a:t>
            </a:r>
          </a:p>
          <a:p>
            <a:pPr lvl="1"/>
            <a:r>
              <a:rPr lang="en-US" altLang="ko-KR" dirty="0"/>
              <a:t>Hidden width: 1024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15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54E9-706E-2DA5-F337-F5D81FE9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C68A-D204-B0DD-6BF6-980C55C7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44CC7-AB33-6266-F65E-DA085AE5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Some issue…</a:t>
            </a:r>
          </a:p>
          <a:p>
            <a:pPr lvl="1"/>
            <a:r>
              <a:rPr lang="en-US" altLang="ko-KR" dirty="0"/>
              <a:t>Parameter size is too large</a:t>
            </a:r>
          </a:p>
          <a:p>
            <a:pPr lvl="2"/>
            <a:r>
              <a:rPr lang="en-US" altLang="ko-KR" dirty="0"/>
              <a:t>Data: 1449 * 512 ≈ 740k</a:t>
            </a:r>
          </a:p>
          <a:p>
            <a:pPr lvl="2"/>
            <a:r>
              <a:rPr lang="en-US" altLang="ko-KR" dirty="0"/>
              <a:t>Param: 5.25 M</a:t>
            </a:r>
          </a:p>
          <a:p>
            <a:pPr lvl="1"/>
            <a:r>
              <a:rPr lang="en-US" altLang="ko-KR" dirty="0"/>
              <a:t>Long training time</a:t>
            </a:r>
          </a:p>
          <a:p>
            <a:pPr lvl="1"/>
            <a:r>
              <a:rPr lang="en-US" altLang="ko-KR" dirty="0"/>
              <a:t>Learning rate set too low</a:t>
            </a:r>
          </a:p>
          <a:p>
            <a:pPr lvl="1"/>
            <a:r>
              <a:rPr lang="en-US" altLang="ko-KR" dirty="0"/>
              <a:t>Input data issue</a:t>
            </a:r>
          </a:p>
          <a:p>
            <a:pPr lvl="2"/>
            <a:r>
              <a:rPr lang="en-US" altLang="ko-KR" dirty="0"/>
              <a:t>Question truncated due to </a:t>
            </a:r>
            <a:r>
              <a:rPr lang="en-US" altLang="ko-KR" dirty="0" err="1"/>
              <a:t>max_length</a:t>
            </a:r>
            <a:r>
              <a:rPr lang="en-US" altLang="ko-KR" dirty="0"/>
              <a:t> constraint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2FFE89-A6D3-B0E3-FEF9-8A64351A6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60" y="5100868"/>
            <a:ext cx="10308879" cy="2090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B53B9C-6002-3868-83C7-7116FD01C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60" y="5440290"/>
            <a:ext cx="10308879" cy="12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3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79F1E-8F5F-2BB0-FCF6-A771D53B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DB24E-BE27-4049-CDC8-CDC524C1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Online (v2)</a:t>
            </a:r>
          </a:p>
          <a:p>
            <a:endParaRPr lang="en-US" altLang="ko-KR" dirty="0"/>
          </a:p>
          <a:p>
            <a:r>
              <a:rPr lang="en-US" altLang="ko-KR" dirty="0"/>
              <a:t>Base LLM (frozen) : Meta-Llama 3.1-8B-Instruct</a:t>
            </a:r>
          </a:p>
          <a:p>
            <a:pPr lvl="1"/>
            <a:r>
              <a:rPr lang="en-US" altLang="ko-KR" dirty="0"/>
              <a:t>32 Transformer layers</a:t>
            </a:r>
          </a:p>
          <a:p>
            <a:pPr lvl="1"/>
            <a:r>
              <a:rPr lang="en-US" altLang="ko-KR" dirty="0"/>
              <a:t>Hidden size = 4096</a:t>
            </a:r>
          </a:p>
          <a:p>
            <a:r>
              <a:rPr lang="en-US" altLang="ko-KR" dirty="0"/>
              <a:t>Trainable Preference Head</a:t>
            </a:r>
          </a:p>
          <a:p>
            <a:pPr lvl="1"/>
            <a:r>
              <a:rPr lang="en-US" altLang="ko-KR" dirty="0"/>
              <a:t>Architecture : Linear (4096 → 8) → GELU → Linear (8 → 1)</a:t>
            </a:r>
          </a:p>
          <a:p>
            <a:pPr lvl="1"/>
            <a:r>
              <a:rPr lang="en-US" altLang="ko-KR" dirty="0"/>
              <a:t>Trainable params ≈ 32.8 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23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A5EB-BC4A-1F10-6228-9C81FA84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154A5-9FBF-55CD-256C-F091EB23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788EB-1E5E-7E1A-C74D-79B90B75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Format</a:t>
            </a:r>
          </a:p>
          <a:p>
            <a:pPr lvl="1"/>
            <a:r>
              <a:rPr lang="en-US" altLang="ko-KR" dirty="0"/>
              <a:t>JSONL row</a:t>
            </a:r>
          </a:p>
          <a:p>
            <a:pPr lvl="2"/>
            <a:r>
              <a:rPr lang="en-US" altLang="ko-KR" dirty="0"/>
              <a:t>{ "q": prompt, "win": preferred answer, "lose": dispreferred answer }</a:t>
            </a:r>
          </a:p>
          <a:p>
            <a:pPr lvl="1"/>
            <a:r>
              <a:rPr lang="en-US" altLang="ko-KR" dirty="0"/>
              <a:t>Token limits : q ≤ 128 tokens, win/lose ≤ 512 tokens</a:t>
            </a:r>
          </a:p>
          <a:p>
            <a:pPr lvl="1"/>
            <a:r>
              <a:rPr lang="en-US" altLang="ko-KR" dirty="0"/>
              <a:t>For each time-step t (1…512)</a:t>
            </a:r>
          </a:p>
          <a:p>
            <a:pPr lvl="2"/>
            <a:r>
              <a:rPr lang="en-US" altLang="ko-KR" dirty="0"/>
              <a:t>sequence = (</a:t>
            </a:r>
            <a:r>
              <a:rPr lang="en-US" altLang="ko-KR" dirty="0" err="1"/>
              <a:t>q_ids</a:t>
            </a:r>
            <a:r>
              <a:rPr lang="en-US" altLang="ko-KR" dirty="0"/>
              <a:t> + </a:t>
            </a:r>
            <a:r>
              <a:rPr lang="en-US" altLang="ko-KR" dirty="0" err="1"/>
              <a:t>answer_ids</a:t>
            </a:r>
            <a:r>
              <a:rPr lang="en-US" altLang="ko-KR" dirty="0"/>
              <a:t>[:t+1])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Loss : </a:t>
            </a:r>
            <a:r>
              <a:rPr lang="en-US" altLang="ko-KR" dirty="0" err="1"/>
              <a:t>BCEWithLogits</a:t>
            </a:r>
            <a:r>
              <a:rPr lang="en-US" altLang="ko-KR" dirty="0"/>
              <a:t>( </a:t>
            </a:r>
            <a:r>
              <a:rPr lang="en-US" altLang="ko-KR" dirty="0" err="1"/>
              <a:t>s_win</a:t>
            </a:r>
            <a:r>
              <a:rPr lang="en-US" altLang="ko-KR" dirty="0"/>
              <a:t> − </a:t>
            </a:r>
            <a:r>
              <a:rPr lang="en-US" altLang="ko-KR" dirty="0" err="1"/>
              <a:t>s_lose</a:t>
            </a:r>
            <a:r>
              <a:rPr lang="en-US" altLang="ko-KR" dirty="0"/>
              <a:t> , 1 )</a:t>
            </a:r>
          </a:p>
          <a:p>
            <a:r>
              <a:rPr lang="en-US" altLang="ko-KR" dirty="0"/>
              <a:t>Accuracy : percentage( </a:t>
            </a:r>
            <a:r>
              <a:rPr lang="en-US" altLang="ko-KR" dirty="0" err="1"/>
              <a:t>s_win</a:t>
            </a:r>
            <a:r>
              <a:rPr lang="en-US" altLang="ko-KR" dirty="0"/>
              <a:t> &gt; </a:t>
            </a:r>
            <a:r>
              <a:rPr lang="en-US" altLang="ko-KR" dirty="0" err="1"/>
              <a:t>s_lose</a:t>
            </a:r>
            <a:r>
              <a:rPr lang="en-US" altLang="ko-KR" dirty="0"/>
              <a:t>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10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39B8-3CE5-1DF5-0AF9-6240DDE20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71225-6ACA-5A35-1F98-08CA22E7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765F0-6AD8-193E-7F5D-A119424F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</a:t>
            </a:r>
            <a:r>
              <a:rPr lang="en-US" altLang="ko-KR" dirty="0" err="1"/>
              <a:t>AdamW</a:t>
            </a:r>
            <a:endParaRPr lang="en-US" altLang="ko-KR" dirty="0"/>
          </a:p>
          <a:p>
            <a:pPr lvl="1"/>
            <a:r>
              <a:rPr lang="en-US" altLang="ko-KR" dirty="0"/>
              <a:t>Learning rate: 1 × 10⁻³</a:t>
            </a:r>
          </a:p>
          <a:p>
            <a:pPr lvl="1"/>
            <a:r>
              <a:rPr lang="en-US" altLang="ko-KR" dirty="0"/>
              <a:t>Batch size: 32</a:t>
            </a:r>
          </a:p>
          <a:p>
            <a:pPr lvl="1"/>
            <a:r>
              <a:rPr lang="en-US" altLang="ko-KR" dirty="0"/>
              <a:t>Epochs: 32</a:t>
            </a:r>
          </a:p>
          <a:p>
            <a:pPr lvl="1"/>
            <a:r>
              <a:rPr lang="en-US" altLang="ko-KR" dirty="0"/>
              <a:t>Max sequence length: 1024</a:t>
            </a:r>
          </a:p>
          <a:p>
            <a:pPr lvl="1"/>
            <a:r>
              <a:rPr lang="en-US" altLang="ko-KR" dirty="0"/>
              <a:t>Max sequences / sample: 512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02CB56-8A39-4C5E-0550-84BB94256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64" y="4818843"/>
            <a:ext cx="9883271" cy="18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9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7DC1D-5228-F506-21DF-61DECB33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881A1-222C-20FC-251E-683A08F1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517A4-E334-42CE-0D49-BC71F11C6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Offline</a:t>
            </a:r>
          </a:p>
          <a:p>
            <a:r>
              <a:rPr lang="ko-KR" altLang="en-US" dirty="0"/>
              <a:t>각 입력 토큰 별 마지막 </a:t>
            </a:r>
            <a:r>
              <a:rPr lang="en-US" altLang="ko-KR" dirty="0"/>
              <a:t>hidden layer </a:t>
            </a:r>
            <a:r>
              <a:rPr lang="ko-KR" altLang="en-US" dirty="0"/>
              <a:t>계산</a:t>
            </a:r>
            <a:endParaRPr lang="en-US" altLang="ko-KR" dirty="0"/>
          </a:p>
          <a:p>
            <a:r>
              <a:rPr lang="en-US" altLang="ko-KR" dirty="0"/>
              <a:t>4096</a:t>
            </a:r>
            <a:r>
              <a:rPr lang="ko-KR" altLang="en-US" dirty="0"/>
              <a:t>차원의 벡터 </a:t>
            </a:r>
            <a:r>
              <a:rPr lang="en-US" altLang="ko-KR" dirty="0"/>
              <a:t>– Win/Lose labeling</a:t>
            </a:r>
          </a:p>
          <a:p>
            <a:endParaRPr lang="en-US" altLang="ko-KR" dirty="0"/>
          </a:p>
          <a:p>
            <a:r>
              <a:rPr lang="en-US" altLang="ko-KR" dirty="0"/>
              <a:t>Training </a:t>
            </a:r>
            <a:r>
              <a:rPr lang="ko-KR" altLang="en-US" dirty="0"/>
              <a:t>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166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522B8-A2AD-26A7-687D-6E4D426D7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94D39-2BF8-14FD-AAD6-AB911452B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the model</a:t>
            </a:r>
          </a:p>
          <a:p>
            <a:pPr lvl="1"/>
            <a:r>
              <a:rPr lang="en-US" altLang="ko-KR" dirty="0"/>
              <a:t>Compare with greedy decoding version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Hyper-Parameter tuning</a:t>
            </a:r>
          </a:p>
          <a:p>
            <a:pPr lvl="1"/>
            <a:r>
              <a:rPr lang="en-US" altLang="ko-KR" dirty="0"/>
              <a:t>After testing</a:t>
            </a:r>
          </a:p>
          <a:p>
            <a:pPr lvl="1"/>
            <a:r>
              <a:rPr lang="en-US" altLang="ko-KR" dirty="0"/>
              <a:t>Tuning model size</a:t>
            </a:r>
          </a:p>
          <a:p>
            <a:pPr lvl="1"/>
            <a:r>
              <a:rPr lang="en-US" altLang="ko-KR" dirty="0"/>
              <a:t>Training other method (labeling only final</a:t>
            </a:r>
            <a:r>
              <a:rPr lang="ko-KR" altLang="en-US" dirty="0"/>
              <a:t> </a:t>
            </a:r>
            <a:r>
              <a:rPr lang="en-US" altLang="ko-KR" dirty="0"/>
              <a:t>token)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Dataset issue</a:t>
            </a:r>
          </a:p>
          <a:p>
            <a:pPr lvl="1"/>
            <a:r>
              <a:rPr lang="en-US" altLang="ko-KR" dirty="0"/>
              <a:t>i.e. A &gt; B &gt; C </a:t>
            </a:r>
            <a:r>
              <a:rPr lang="en-US" altLang="ko-KR" dirty="0">
                <a:sym typeface="Wingdings" panose="05000000000000000000" pitchFamily="2" charset="2"/>
              </a:rPr>
              <a:t> B is both Lose and Win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043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513</Words>
  <Application>Microsoft Office PowerPoint</Application>
  <PresentationFormat>와이드스크린</PresentationFormat>
  <Paragraphs>99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Weekly Meeting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45</cp:revision>
  <dcterms:created xsi:type="dcterms:W3CDTF">2025-06-26T16:03:04Z</dcterms:created>
  <dcterms:modified xsi:type="dcterms:W3CDTF">2025-08-01T01:56:13Z</dcterms:modified>
</cp:coreProperties>
</file>