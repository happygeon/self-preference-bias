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5" r:id="rId5"/>
    <p:sldId id="266" r:id="rId6"/>
    <p:sldId id="267" r:id="rId7"/>
    <p:sldId id="264" r:id="rId8"/>
    <p:sldId id="268" r:id="rId9"/>
    <p:sldId id="269" r:id="rId10"/>
    <p:sldId id="270" r:id="rId11"/>
    <p:sldId id="271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36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7B79-8542-C1BB-A180-9012CC85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C2FBEB-DEC5-B687-0D35-B4CD46012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A4510-9A56-7A8E-5551-F31D955BD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6913B-E2E3-B37E-E84B-5F4433F8B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3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BD66D-5301-BAFF-6116-97A53165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391BC7-680B-E393-E7B4-C3B2051AB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BD5E7B-F58E-EB5B-E727-D49D59C99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272613-9F0F-A690-A06F-73F9F845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14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C52A-65AA-7F41-9B0E-11B55B54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58321-DE1F-E374-5743-1B9EDAA7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321D43-7DC2-0D2E-7F47-35A0F470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FF4CD6-68E8-85E2-4042-4389576DC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97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25.08.07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AC0C9-3627-B75E-315C-5DC994D8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2E8F51-0CB3-DEB5-7C22-C2C2EF98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</a:t>
            </a:r>
          </a:p>
          <a:p>
            <a:r>
              <a:rPr lang="en-US" altLang="ko-KR" dirty="0"/>
              <a:t>Alpaca Eval QA set (805)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GPT-4o-mini (w. temperature 0.7)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Llama-3.1-8B-Inst (w. temperature 1.0)x2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ko-KR" dirty="0"/>
              <a:t>Llama-3.1-8B-Inst (w. greedy decoding)</a:t>
            </a:r>
          </a:p>
          <a:p>
            <a:pPr marL="457200" lvl="1" indent="0">
              <a:buNone/>
            </a:pPr>
            <a:r>
              <a:rPr lang="en-US" altLang="ko-KR" dirty="0"/>
              <a:t>*</a:t>
            </a:r>
            <a:r>
              <a:rPr lang="en-US" altLang="ko-KR" dirty="0" err="1"/>
              <a:t>max_length</a:t>
            </a:r>
            <a:r>
              <a:rPr lang="en-US" altLang="ko-KR" dirty="0"/>
              <a:t> = 512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Pair-wise test</a:t>
            </a:r>
          </a:p>
          <a:p>
            <a:pPr lvl="1"/>
            <a:r>
              <a:rPr lang="en-US" altLang="ko-KR" dirty="0"/>
              <a:t>GPT-4o-mini (w. greedy decoding)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894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2F38-86BD-C307-66AB-BE166857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5F647-361C-672B-40DD-1E5F2625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D350C-9ECD-537F-B2F5-723F6FA9A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</a:t>
            </a:r>
          </a:p>
          <a:p>
            <a:r>
              <a:rPr lang="en-US" altLang="ko-KR" dirty="0"/>
              <a:t>Total:</a:t>
            </a:r>
          </a:p>
          <a:p>
            <a:pPr lvl="1"/>
            <a:r>
              <a:rPr lang="en-US" altLang="ko-KR" dirty="0"/>
              <a:t>1416 pair-wise dataset</a:t>
            </a:r>
          </a:p>
          <a:p>
            <a:pPr lvl="1"/>
            <a:r>
              <a:rPr lang="en-US" altLang="ko-KR" dirty="0"/>
              <a:t>858 train / 284 valid / 284 test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176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144-B884-9D66-995F-CDB01483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3E800-E6A3-DAFD-2215-5D700CE3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76A98-E422-0543-F6D8-24217985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Preprocess</a:t>
            </a:r>
          </a:p>
          <a:p>
            <a:pPr lvl="1"/>
            <a:r>
              <a:rPr lang="en-US" altLang="ko-KR" dirty="0"/>
              <a:t>Delete cycle (a&gt;b&gt;c&gt;a)</a:t>
            </a:r>
          </a:p>
          <a:p>
            <a:pPr lvl="1"/>
            <a:r>
              <a:rPr lang="en-US" altLang="ko-KR" dirty="0"/>
              <a:t>Get two dataset for each query (a&gt;b, a&gt;c)</a:t>
            </a:r>
          </a:p>
          <a:p>
            <a:pPr lvl="1"/>
            <a:r>
              <a:rPr lang="en-US" altLang="ko-KR" dirty="0"/>
              <a:t>Response token </a:t>
            </a:r>
            <a:r>
              <a:rPr lang="en-US" altLang="ko-KR" dirty="0">
                <a:sym typeface="Wingdings" panose="05000000000000000000" pitchFamily="2" charset="2"/>
              </a:rPr>
              <a:t> get final last hidden layer for each token(R</a:t>
            </a:r>
            <a:r>
              <a:rPr lang="en-US" altLang="ko-KR" baseline="30000" dirty="0">
                <a:sym typeface="Wingdings" panose="05000000000000000000" pitchFamily="2" charset="2"/>
              </a:rPr>
              <a:t>4096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Next token embedding*  (R</a:t>
            </a:r>
            <a:r>
              <a:rPr lang="en-US" altLang="ko-KR" baseline="30000" dirty="0">
                <a:sym typeface="Wingdings" panose="05000000000000000000" pitchFamily="2" charset="2"/>
              </a:rPr>
              <a:t>4096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0590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F2C3-FD49-790C-AF99-C6480B9C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28C6C-A0DF-C9BC-63F1-6EC05389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70861-15D8-FB13-56BF-1C931930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Format</a:t>
            </a:r>
          </a:p>
          <a:p>
            <a:pPr lvl="1"/>
            <a:r>
              <a:rPr lang="en-US" altLang="ko-KR" dirty="0"/>
              <a:t>JSONL row</a:t>
            </a:r>
          </a:p>
          <a:p>
            <a:pPr lvl="2"/>
            <a:r>
              <a:rPr lang="en-US" altLang="ko-KR" dirty="0"/>
              <a:t>{ "q": prompt, "win": preferred answer, "lose": dispreferred answer }</a:t>
            </a:r>
          </a:p>
          <a:p>
            <a:pPr lvl="1"/>
            <a:r>
              <a:rPr lang="en-US" altLang="ko-KR" dirty="0"/>
              <a:t>Token limits : q ≤ 128 tokens, win/lose ≤ 512 tokens</a:t>
            </a:r>
          </a:p>
          <a:p>
            <a:pPr lvl="1"/>
            <a:r>
              <a:rPr lang="en-US" altLang="ko-KR" dirty="0"/>
              <a:t>For each time-step t (1…512)</a:t>
            </a:r>
          </a:p>
          <a:p>
            <a:pPr lvl="2"/>
            <a:r>
              <a:rPr lang="en-US" altLang="ko-KR" dirty="0"/>
              <a:t>sequence = (</a:t>
            </a:r>
            <a:r>
              <a:rPr lang="en-US" altLang="ko-KR" dirty="0" err="1"/>
              <a:t>q_ids</a:t>
            </a:r>
            <a:r>
              <a:rPr lang="en-US" altLang="ko-KR" dirty="0"/>
              <a:t> + </a:t>
            </a:r>
            <a:r>
              <a:rPr lang="en-US" altLang="ko-KR" dirty="0" err="1"/>
              <a:t>answer_ids</a:t>
            </a:r>
            <a:r>
              <a:rPr lang="en-US" altLang="ko-KR" dirty="0"/>
              <a:t>[:t+1])[-512:]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Loss : </a:t>
            </a:r>
            <a:r>
              <a:rPr lang="en-US" altLang="ko-KR" dirty="0" err="1"/>
              <a:t>BCEWithLogits</a:t>
            </a:r>
            <a:r>
              <a:rPr lang="en-US" altLang="ko-KR" dirty="0"/>
              <a:t>( </a:t>
            </a:r>
            <a:r>
              <a:rPr lang="en-US" altLang="ko-KR" dirty="0" err="1"/>
              <a:t>s_win</a:t>
            </a:r>
            <a:r>
              <a:rPr lang="en-US" altLang="ko-KR" dirty="0"/>
              <a:t> − </a:t>
            </a:r>
            <a:r>
              <a:rPr lang="en-US" altLang="ko-KR" dirty="0" err="1"/>
              <a:t>s_lose</a:t>
            </a:r>
            <a:r>
              <a:rPr lang="en-US" altLang="ko-KR" dirty="0"/>
              <a:t> , 1 )</a:t>
            </a:r>
          </a:p>
          <a:p>
            <a:r>
              <a:rPr lang="en-US" altLang="ko-KR" dirty="0"/>
              <a:t>Accuracy : mean( </a:t>
            </a:r>
            <a:r>
              <a:rPr lang="en-US" altLang="ko-KR" dirty="0" err="1"/>
              <a:t>s_win</a:t>
            </a:r>
            <a:r>
              <a:rPr lang="en-US" altLang="ko-KR" dirty="0"/>
              <a:t> &gt; </a:t>
            </a:r>
            <a:r>
              <a:rPr lang="en-US" altLang="ko-KR" dirty="0" err="1"/>
              <a:t>s_lose</a:t>
            </a:r>
            <a:r>
              <a:rPr lang="en-US" altLang="ko-KR" dirty="0"/>
              <a:t>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27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4A73-ECD7-5C7A-565C-E255F69F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24CAD-5945-4122-6690-31C9C511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5EFA9-E947-4FE1-8E09-0DF1A05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</a:t>
            </a:r>
            <a:r>
              <a:rPr lang="en-US" altLang="ko-KR" dirty="0" err="1"/>
              <a:t>AdamW</a:t>
            </a:r>
            <a:endParaRPr lang="en-US" altLang="ko-KR" dirty="0"/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32</a:t>
            </a:r>
          </a:p>
          <a:p>
            <a:pPr lvl="1"/>
            <a:r>
              <a:rPr lang="en-US" altLang="ko-KR" dirty="0"/>
              <a:t>Max sequence length: unlimited</a:t>
            </a:r>
          </a:p>
          <a:p>
            <a:pPr lvl="1"/>
            <a:r>
              <a:rPr lang="en-US" altLang="ko-KR" dirty="0"/>
              <a:t>Dropout: 0.25</a:t>
            </a:r>
          </a:p>
          <a:p>
            <a:pPr lvl="1"/>
            <a:r>
              <a:rPr lang="en-US" altLang="ko-KR" dirty="0"/>
              <a:t>Hidden width: 2, 4, 8, 16, 32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Input dimension: 4096 (only hidden layer)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15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54E9-706E-2DA5-F337-F5D81FE9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C68A-D204-B0DD-6BF6-980C55C7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44CC7-AB33-6266-F65E-DA085AE5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Not generalizing</a:t>
            </a:r>
          </a:p>
          <a:p>
            <a:pPr lvl="1"/>
            <a:r>
              <a:rPr lang="en-US" altLang="ko-KR" dirty="0"/>
              <a:t>Overfitting detected</a:t>
            </a:r>
          </a:p>
          <a:p>
            <a:pPr lvl="1"/>
            <a:r>
              <a:rPr lang="en-US" altLang="ko-KR" dirty="0"/>
              <a:t>Similar pattern regardless of width</a:t>
            </a:r>
          </a:p>
          <a:p>
            <a:pPr lvl="1"/>
            <a:r>
              <a:rPr lang="en-US" altLang="ko-KR" dirty="0"/>
              <a:t>Accuracy ≈ 62%</a:t>
            </a:r>
          </a:p>
          <a:p>
            <a:pPr lvl="1"/>
            <a:endParaRPr lang="en-US" altLang="ko-KR" dirty="0"/>
          </a:p>
        </p:txBody>
      </p:sp>
      <p:pic>
        <p:nvPicPr>
          <p:cNvPr id="13" name="그림 12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ED419A-DA79-E83F-FBBD-0661278CF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60" y="1825625"/>
            <a:ext cx="4780280" cy="35852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BA407E3-4B52-5E37-DA98-B033A045A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991" y="4363086"/>
            <a:ext cx="3905250" cy="1047750"/>
          </a:xfrm>
          <a:prstGeom prst="rect">
            <a:avLst/>
          </a:prstGeom>
        </p:spPr>
      </p:pic>
      <p:pic>
        <p:nvPicPr>
          <p:cNvPr id="17" name="그림 16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402F22-251E-C33F-A5E0-BB240CD9F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60" y="1825625"/>
            <a:ext cx="4780281" cy="358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3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5F91-6255-D8D2-4C88-B8F88822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39F23-8C9D-9994-8411-20CB1F80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BA32F-3A27-E3D4-E4F5-BB3FF3B0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</a:t>
            </a:r>
            <a:r>
              <a:rPr lang="en-US" altLang="ko-KR" dirty="0" err="1"/>
              <a:t>AdamW</a:t>
            </a:r>
            <a:r>
              <a:rPr lang="en-US" altLang="ko-KR" dirty="0"/>
              <a:t>, SGD</a:t>
            </a:r>
          </a:p>
          <a:p>
            <a:pPr lvl="1"/>
            <a:r>
              <a:rPr lang="en-US" altLang="ko-KR" dirty="0"/>
              <a:t>Momentum: 0.9(SGD)</a:t>
            </a:r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32</a:t>
            </a:r>
          </a:p>
          <a:p>
            <a:pPr lvl="1"/>
            <a:r>
              <a:rPr lang="en-US" altLang="ko-KR" dirty="0"/>
              <a:t>Max sequence length: unlimited</a:t>
            </a:r>
          </a:p>
          <a:p>
            <a:pPr lvl="1"/>
            <a:r>
              <a:rPr lang="en-US" altLang="ko-KR" dirty="0"/>
              <a:t>Dropout: 0.25</a:t>
            </a:r>
          </a:p>
          <a:p>
            <a:pPr lvl="1"/>
            <a:r>
              <a:rPr lang="en-US" altLang="ko-KR" dirty="0"/>
              <a:t>Hidden width: 1, 2, 4, 8, 16, 32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Input dimension: 8192 (hidden layer + embedding)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21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31E0-D88E-5B25-C5B4-C7D19D05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193C3-40F9-612C-62CA-5F52D839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D114D6-6A07-66D7-6AB4-18606524A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Results(</a:t>
            </a:r>
            <a:r>
              <a:rPr lang="en-US" altLang="ko-KR" dirty="0" err="1"/>
              <a:t>AdamW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Not generalizing</a:t>
            </a:r>
          </a:p>
          <a:p>
            <a:pPr lvl="1"/>
            <a:r>
              <a:rPr lang="en-US" altLang="ko-KR" dirty="0"/>
              <a:t>Overfitting detected</a:t>
            </a:r>
          </a:p>
          <a:p>
            <a:pPr lvl="1"/>
            <a:r>
              <a:rPr lang="en-US" altLang="ko-KR" dirty="0"/>
              <a:t>Similar pattern regardless of width</a:t>
            </a:r>
          </a:p>
          <a:p>
            <a:pPr lvl="1"/>
            <a:r>
              <a:rPr lang="en-US" altLang="ko-KR" dirty="0"/>
              <a:t>Accuracy ≈ 62%</a:t>
            </a:r>
          </a:p>
        </p:txBody>
      </p:sp>
      <p:pic>
        <p:nvPicPr>
          <p:cNvPr id="18" name="그림 1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665D7F-45BB-1A25-9063-B55B456FB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59" y="1825624"/>
            <a:ext cx="4780283" cy="35852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9718EB-D924-F0B3-28DD-F462D3158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692" y="4001294"/>
            <a:ext cx="30765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6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EBC7-2298-416D-BE97-D9673DAC8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A0DFD-00F9-F6EB-ABA4-A958AD96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424FD8-8533-D842-2480-9625AC19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Results(SGD, width=1)</a:t>
            </a:r>
          </a:p>
          <a:p>
            <a:pPr lvl="1"/>
            <a:r>
              <a:rPr lang="en-US" altLang="ko-KR" dirty="0"/>
              <a:t>Not generalizing</a:t>
            </a:r>
          </a:p>
          <a:p>
            <a:pPr lvl="1"/>
            <a:r>
              <a:rPr lang="en-US" altLang="ko-KR" dirty="0"/>
              <a:t>Overfitting detected</a:t>
            </a:r>
          </a:p>
          <a:p>
            <a:pPr lvl="1"/>
            <a:r>
              <a:rPr lang="en-US" altLang="ko-KR" dirty="0"/>
              <a:t>Similar pattern regardless of width</a:t>
            </a:r>
          </a:p>
          <a:p>
            <a:pPr lvl="1"/>
            <a:r>
              <a:rPr lang="en-US" altLang="ko-KR" dirty="0"/>
              <a:t>Accuracy ≈ 62%</a:t>
            </a:r>
          </a:p>
        </p:txBody>
      </p:sp>
      <p:pic>
        <p:nvPicPr>
          <p:cNvPr id="18" name="그림 1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012BA9-38A0-A843-1B19-FB5A260E4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59" y="1825624"/>
            <a:ext cx="4780283" cy="35852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48D470-D88F-A7FC-3D9B-0D62563E2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692" y="4001294"/>
            <a:ext cx="3076575" cy="1323975"/>
          </a:xfrm>
          <a:prstGeom prst="rect">
            <a:avLst/>
          </a:prstGeom>
        </p:spPr>
      </p:pic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209C6A-42E2-D43F-7BB2-5341B0FB6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59" y="1825623"/>
            <a:ext cx="4780284" cy="3585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CE576A-52F7-F2C3-E6D7-A014E52AD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8692" y="4001294"/>
            <a:ext cx="318179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4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0F71-2DFB-0579-2372-D2E90C57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6AD5B-979C-9331-67D9-FD7C3B60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02B4D-E4F1-619E-D0B4-88DFA29A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Results(SGD, width=8)</a:t>
            </a:r>
          </a:p>
          <a:p>
            <a:pPr lvl="1"/>
            <a:r>
              <a:rPr lang="en-US" altLang="ko-KR" dirty="0"/>
              <a:t>Not generalizing</a:t>
            </a:r>
          </a:p>
          <a:p>
            <a:pPr lvl="1"/>
            <a:r>
              <a:rPr lang="en-US" altLang="ko-KR" dirty="0"/>
              <a:t>Overfitting detected</a:t>
            </a:r>
          </a:p>
          <a:p>
            <a:pPr lvl="1"/>
            <a:r>
              <a:rPr lang="en-US" altLang="ko-KR" dirty="0"/>
              <a:t>Similar pattern regardless of width</a:t>
            </a:r>
          </a:p>
          <a:p>
            <a:pPr lvl="1"/>
            <a:r>
              <a:rPr lang="en-US" altLang="ko-KR" dirty="0"/>
              <a:t>Accuracy ≈ 62%</a:t>
            </a:r>
          </a:p>
        </p:txBody>
      </p:sp>
      <p:pic>
        <p:nvPicPr>
          <p:cNvPr id="18" name="그림 1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FFBFA9-62D4-3F38-B886-5446D79DF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59" y="1825624"/>
            <a:ext cx="4780283" cy="35852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BA8673E-0CBE-7CE8-D0C5-6329021A7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692" y="4001294"/>
            <a:ext cx="3076575" cy="1323975"/>
          </a:xfrm>
          <a:prstGeom prst="rect">
            <a:avLst/>
          </a:prstGeom>
        </p:spPr>
      </p:pic>
      <p:pic>
        <p:nvPicPr>
          <p:cNvPr id="10" name="그림 9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101D5-8C10-83FF-CCDE-C2B6254EF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58" y="1825624"/>
            <a:ext cx="4780283" cy="35852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5635DB-F6DB-491D-45FD-4FA9C6AA1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8691" y="4001295"/>
            <a:ext cx="3592094" cy="13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5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522B8-A2AD-26A7-687D-6E4D426D7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94D39-2BF8-14FD-AAD6-AB911452B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Discussion</a:t>
            </a:r>
          </a:p>
          <a:p>
            <a:pPr lvl="1"/>
            <a:r>
              <a:rPr lang="en-US" altLang="ko-KR" dirty="0"/>
              <a:t>Increased accuracy: data preprocessing</a:t>
            </a:r>
          </a:p>
          <a:p>
            <a:pPr lvl="1"/>
            <a:r>
              <a:rPr lang="en-US" altLang="ko-KR" dirty="0"/>
              <a:t>Increasing dataset size</a:t>
            </a:r>
          </a:p>
          <a:p>
            <a:pPr lvl="1"/>
            <a:r>
              <a:rPr lang="en-US" altLang="ko-KR" dirty="0"/>
              <a:t>Other loss function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Generation &amp; pair-wise test</a:t>
            </a:r>
          </a:p>
          <a:p>
            <a:pPr lvl="1"/>
            <a:r>
              <a:rPr lang="en-US" altLang="ko-KR" dirty="0"/>
              <a:t>Generate w. trained model</a:t>
            </a:r>
          </a:p>
          <a:p>
            <a:pPr lvl="1"/>
            <a:r>
              <a:rPr lang="en-US" altLang="ko-KR" dirty="0"/>
              <a:t>Pair-wise test w. greedy </a:t>
            </a:r>
            <a:r>
              <a:rPr lang="en-US" altLang="ko-KR"/>
              <a:t>decoding response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043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436</Words>
  <Application>Microsoft Office PowerPoint</Application>
  <PresentationFormat>와이드스크린</PresentationFormat>
  <Paragraphs>95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Weekly Meeting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Experiment Setting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51</cp:revision>
  <dcterms:created xsi:type="dcterms:W3CDTF">2025-06-26T16:03:04Z</dcterms:created>
  <dcterms:modified xsi:type="dcterms:W3CDTF">2025-08-06T18:16:30Z</dcterms:modified>
</cp:coreProperties>
</file>