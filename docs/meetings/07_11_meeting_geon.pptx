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71" r:id="rId4"/>
    <p:sldId id="270" r:id="rId5"/>
    <p:sldId id="272" r:id="rId6"/>
    <p:sldId id="273" r:id="rId7"/>
    <p:sldId id="274" r:id="rId8"/>
    <p:sldId id="275" r:id="rId9"/>
    <p:sldId id="26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C7D9B-E924-4A95-A6FF-6E00A8D60F6F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5775D-1477-42BE-8059-339070114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70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9E2D4-3799-8446-C11B-DD8C69BC9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9718CA-CA72-F865-D388-C94F0AF41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4ACD5-6768-9A7E-D09B-54BA683B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2967F6-FC42-F836-DB48-F8651E6E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C7709-CBF2-17B4-1972-335D4CC0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DC200-988F-06F6-0BB2-DD740743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B6DA67-F866-FCFE-5210-DF9B44426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6C79B-D209-B327-F125-F29E0C9A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D492DE-2C54-916A-8B4B-8C753888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2AF06B-326E-27F9-6DCA-F353FAB4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9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DE522-0032-2DE7-FFBE-874986F8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4F144-BD17-9790-F053-4AA5BFF7E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B6A44-3421-8A7A-E1FE-1580E88B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5004A-1570-F75F-724A-E7DFB202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84123-6CAB-47BE-1693-9B6FE91A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32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AEFF6-A3FC-B776-5F8D-82B282E5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F46D8-7BB4-DC26-6D45-32CC146B2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CB7BF0-5C89-B9B2-984B-A2E28BC2D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E3B1C5-0460-E01D-0571-6ADB87AD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7EBC8D-EA72-B88B-D662-ADFA2711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AF61A1-F746-2684-3E75-AA5D9B56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72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F158F-7C44-5504-DEAF-29F240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589099-AA58-49C5-2AC1-139EBD1C3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DB604F-3900-F9DA-4480-C9FC31DAA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BB3539-C513-272F-9D98-671B16909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D6872E-0E38-C2D4-AC3C-1865D33D9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201F8D-A6F6-F892-F155-40B64FC9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226E72-4853-7FBE-4C01-06251879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AE323-2C16-7731-DAF2-A492C1DE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97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24CAB-F2CB-A160-A3D6-632E7B5D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97E10E-7E5C-E7C0-17B5-6BB6A883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1C545C-FCF3-9CE0-351F-AA1BA069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7640A-1186-67D0-4F90-A79023EE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7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6BD943-3CCD-C33E-1CAE-E04DA38E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B53836-5E94-D35F-5DB6-F2C34F89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A5F50-BCE8-3DC4-C44B-1CD070FF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48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8176E-AEE9-AA3A-B360-07D58250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3E146-851A-B250-E129-E5062338D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BC8337-1683-72BA-702B-8E1EEEF65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3EFA3A-AD30-F09D-2C0E-21BA60B2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017489-798A-8DA7-766C-4B6DC349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7E297D-AA6A-0DAA-AB02-12A172DE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76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E63A8-740C-5FE7-FA44-B650CED4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7E5877-0F7C-750E-B416-0FA3F0503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DBAE-4D99-1ABF-955D-BD6F35B8F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544E31-1EF2-9A5B-A008-C98742A2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18FF2F-D03C-A8C8-32C7-2BA261E8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0D56E4-DFAF-E529-5902-45DC399B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77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B365D-DEEB-FF48-15B5-75AABF80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EEBB2-2B6D-6897-BDB4-AC45CE17C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5A4C04-CC3E-F929-3F5B-8B4A6C9E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4D9D0-A5B4-4660-3C44-EE80A545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BA962-A5BD-44D1-B9F6-A6152529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93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3180A5-77CD-9351-C55F-B1568DCB3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014B06-9952-F68D-5005-DC9CE9199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81C56-0C38-562A-6A76-CDC48937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2F73F4-EE93-549B-3BC1-BB0AB3EB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A9684-A54D-82CE-0705-58C0DB13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7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9C8442-983A-340A-7304-4A797A22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C7A4A-0A59-2125-8A88-028F82FE6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87513-F698-E475-A09F-5DDAFB2CD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FA325-696A-48E2-808E-471C768EAC5E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957FFF-AEDB-5D34-3EC3-18C47FFAA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5AF8A5-3FE3-9EF1-81EB-55A96F860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6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6.22316" TargetMode="External"/><Relationship Id="rId7" Type="http://schemas.openxmlformats.org/officeDocument/2006/relationships/hyperlink" Target="https://arxiv.org/pdf/2405.01724" TargetMode="External"/><Relationship Id="rId2" Type="http://schemas.openxmlformats.org/officeDocument/2006/relationships/hyperlink" Target="https://arxiv.org/pdf/2404.0447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403.18771" TargetMode="External"/><Relationship Id="rId5" Type="http://schemas.openxmlformats.org/officeDocument/2006/relationships/hyperlink" Target="https://arxiv.org/pdf/2404.13076" TargetMode="External"/><Relationship Id="rId4" Type="http://schemas.openxmlformats.org/officeDocument/2006/relationships/hyperlink" Target="https://arxiv.org/pdf/2506.0259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738A9-D685-1AA8-F99F-9E52513E5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Weekly Meeting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708C28-1DBC-1BCB-ACE9-1D7B99766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25.07.11</a:t>
            </a:r>
          </a:p>
          <a:p>
            <a:r>
              <a:rPr lang="en-US" altLang="ko-KR" dirty="0"/>
              <a:t>Geon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299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607B3-EAC4-C0FD-840F-E5935A0F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630D30-C5C4-776E-9967-309EF229D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Length-Controlled </a:t>
            </a:r>
            <a:r>
              <a:rPr lang="en-US" altLang="ko-KR" dirty="0" err="1"/>
              <a:t>AlpacaEval</a:t>
            </a:r>
            <a:r>
              <a:rPr lang="en-US" altLang="ko-KR" baseline="30000" dirty="0"/>
              <a:t>[1]</a:t>
            </a:r>
          </a:p>
          <a:p>
            <a:pPr lvl="1"/>
            <a:r>
              <a:rPr lang="en-US" altLang="ko-KR" sz="2000" dirty="0"/>
              <a:t>claim:</a:t>
            </a:r>
            <a:r>
              <a:rPr lang="ko-KR" altLang="en-US" sz="2000" dirty="0"/>
              <a:t>길이에 따른 점수의 편향이 관측됨</a:t>
            </a:r>
          </a:p>
          <a:p>
            <a:pPr lvl="1"/>
            <a:r>
              <a:rPr lang="ko-KR" altLang="en-US" sz="2000" dirty="0"/>
              <a:t>프롬프트 상에서 </a:t>
            </a:r>
            <a:r>
              <a:rPr lang="en-US" altLang="ko-KR" sz="2000" dirty="0"/>
              <a:t>200</a:t>
            </a:r>
            <a:r>
              <a:rPr lang="ko-KR" altLang="en-US" sz="2000" dirty="0"/>
              <a:t>단어 이하로 출력을 지시</a:t>
            </a:r>
            <a:endParaRPr lang="en-US" altLang="ko-KR" sz="2000" dirty="0"/>
          </a:p>
          <a:p>
            <a:pPr lvl="1"/>
            <a:endParaRPr lang="en-US" altLang="ko-KR" dirty="0"/>
          </a:p>
          <a:p>
            <a:r>
              <a:rPr lang="en-US" altLang="ko-KR" dirty="0"/>
              <a:t>Evaluating Scoring Bias in LLM-as-a-Judge</a:t>
            </a:r>
            <a:r>
              <a:rPr lang="en-US" altLang="ko-KR" baseline="30000" dirty="0"/>
              <a:t>[2]</a:t>
            </a:r>
          </a:p>
          <a:p>
            <a:pPr lvl="1"/>
            <a:r>
              <a:rPr lang="en-US" altLang="ko-KR" sz="2000" dirty="0"/>
              <a:t>claim: </a:t>
            </a:r>
            <a:r>
              <a:rPr lang="ko-KR" altLang="en-US" sz="2000" dirty="0"/>
              <a:t>평가에 사용하는 프롬프트의 사소한 변화에 그 점수가 달라질 수 있다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/>
              <a:t>point wise, pair wise </a:t>
            </a:r>
            <a:r>
              <a:rPr lang="ko-KR" altLang="en-US" sz="2000" dirty="0"/>
              <a:t>두 실험에 대해 동일한 프롬프트를 사용하게끔 하여 그 편향요인을 제거</a:t>
            </a:r>
          </a:p>
          <a:p>
            <a:pPr marL="457200" lvl="1" indent="0">
              <a:buNone/>
            </a:pPr>
            <a:r>
              <a:rPr lang="en-US" altLang="ko-KR" sz="2000" dirty="0"/>
              <a:t>	ex) </a:t>
            </a:r>
            <a:r>
              <a:rPr lang="ko-KR" altLang="en-US" sz="2000" dirty="0"/>
              <a:t>하나라면</a:t>
            </a:r>
            <a:r>
              <a:rPr lang="en-US" altLang="ko-KR" sz="2000" dirty="0"/>
              <a:t> </a:t>
            </a:r>
            <a:r>
              <a:rPr lang="ko-KR" altLang="en-US" sz="2000" dirty="0"/>
              <a:t>점수를 </a:t>
            </a:r>
            <a:r>
              <a:rPr lang="en-US" altLang="ko-KR" sz="2000" dirty="0"/>
              <a:t>/ </a:t>
            </a:r>
            <a:r>
              <a:rPr lang="ko-KR" altLang="en-US" sz="2000" dirty="0"/>
              <a:t>두개 라면 더 나은 것을 출력</a:t>
            </a:r>
          </a:p>
        </p:txBody>
      </p:sp>
    </p:spTree>
    <p:extLst>
      <p:ext uri="{BB962C8B-B14F-4D97-AF65-F5344CB8AC3E}">
        <p14:creationId xmlns:p14="http://schemas.microsoft.com/office/powerpoint/2010/main" val="2397668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B2B7-6252-D8DA-CC6A-10B402A0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02340-65F6-63FC-4F63-232B7CDBD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BDA5C4-BC90-745E-6C2E-F6DBDDF81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Measuring Self-Preference in LLM Judgments</a:t>
            </a:r>
            <a:r>
              <a:rPr lang="en-US" altLang="ko-KR" baseline="30000" dirty="0"/>
              <a:t>[3]</a:t>
            </a:r>
          </a:p>
          <a:p>
            <a:pPr lvl="1"/>
            <a:r>
              <a:rPr lang="en-US" altLang="ko-KR" sz="2000" dirty="0"/>
              <a:t>claim: </a:t>
            </a:r>
            <a:r>
              <a:rPr lang="ko-KR" altLang="en-US" sz="2000" dirty="0"/>
              <a:t>다른 평가모델 </a:t>
            </a:r>
            <a:r>
              <a:rPr lang="en-US" altLang="ko-KR" sz="2000" dirty="0"/>
              <a:t>c </a:t>
            </a:r>
            <a:r>
              <a:rPr lang="ko-KR" altLang="en-US" sz="2000" dirty="0"/>
              <a:t>또한 자신만의 선호가 있을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여러 모델을 결합한 하나의 </a:t>
            </a:r>
            <a:r>
              <a:rPr lang="en-US" altLang="ko-KR" sz="2000" dirty="0"/>
              <a:t>Gold judge </a:t>
            </a:r>
            <a:r>
              <a:rPr lang="ko-KR" altLang="en-US" sz="2000" dirty="0"/>
              <a:t>모델을 만들고</a:t>
            </a:r>
            <a:r>
              <a:rPr lang="en-US" altLang="ko-KR" sz="2000" dirty="0"/>
              <a:t>, GT</a:t>
            </a:r>
            <a:r>
              <a:rPr lang="ko-KR" altLang="en-US" sz="2000" dirty="0"/>
              <a:t>로 사용</a:t>
            </a:r>
            <a:endParaRPr lang="en-US" altLang="ko-KR" sz="2000" dirty="0"/>
          </a:p>
          <a:p>
            <a:pPr lvl="1"/>
            <a:r>
              <a:rPr lang="en-US" altLang="ko-KR" sz="2000" dirty="0"/>
              <a:t>Inference</a:t>
            </a:r>
            <a:r>
              <a:rPr lang="ko-KR" altLang="en-US" sz="2000" dirty="0"/>
              <a:t>에 사용하지 않은 독립적인 상용 </a:t>
            </a:r>
            <a:r>
              <a:rPr lang="en-US" altLang="ko-KR" sz="2000" dirty="0" err="1"/>
              <a:t>llm</a:t>
            </a:r>
            <a:r>
              <a:rPr lang="ko-KR" altLang="en-US" sz="2000" dirty="0"/>
              <a:t>으로 대체</a:t>
            </a:r>
            <a:r>
              <a:rPr lang="en-US" altLang="ko-KR" sz="2000" dirty="0"/>
              <a:t>(gpt-4o)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5806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76262-54CA-2A2C-1F9A-37567A0D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5D20E1-5A60-283E-631C-D9B608673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Inference / Judge model</a:t>
            </a:r>
          </a:p>
          <a:p>
            <a:pPr lvl="1"/>
            <a:r>
              <a:rPr lang="en-US" altLang="ko-KR" dirty="0"/>
              <a:t>Qwen3-8B</a:t>
            </a:r>
          </a:p>
          <a:p>
            <a:pPr lvl="1"/>
            <a:r>
              <a:rPr lang="en-US" altLang="ko-KR" dirty="0"/>
              <a:t>Llama3.1-8B-Inst</a:t>
            </a:r>
          </a:p>
          <a:p>
            <a:pPr lvl="1"/>
            <a:r>
              <a:rPr lang="en-US" altLang="ko-KR" dirty="0"/>
              <a:t>GPT-4o </a:t>
            </a:r>
            <a:r>
              <a:rPr lang="en-US" altLang="ko-KR" sz="1300" dirty="0"/>
              <a:t>(*only judge)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Benchmark</a:t>
            </a:r>
          </a:p>
          <a:p>
            <a:pPr lvl="1"/>
            <a:r>
              <a:rPr lang="en-US" altLang="ko-KR" dirty="0"/>
              <a:t>Alpaca Eval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Prompt</a:t>
            </a:r>
          </a:p>
          <a:p>
            <a:pPr lvl="1"/>
            <a:r>
              <a:rPr lang="en-US" altLang="ko-KR" dirty="0"/>
              <a:t>Modified Alpaca Eval prompt</a:t>
            </a:r>
          </a:p>
          <a:p>
            <a:pPr lvl="2"/>
            <a:r>
              <a:rPr lang="en-US" altLang="ko-KR" dirty="0"/>
              <a:t>Single setup for point-wise / pair-wise evaluation</a:t>
            </a:r>
          </a:p>
          <a:p>
            <a:pPr lvl="2"/>
            <a:r>
              <a:rPr lang="en-US" altLang="ko-KR" dirty="0"/>
              <a:t>Rubric-based evaluation</a:t>
            </a:r>
          </a:p>
          <a:p>
            <a:pPr lvl="2"/>
            <a:r>
              <a:rPr lang="en-US" altLang="ko-KR" dirty="0"/>
              <a:t>Randomized input order</a:t>
            </a:r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382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35F37-B8A8-F270-7E94-8FDF43A6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pic>
        <p:nvPicPr>
          <p:cNvPr id="5" name="내용 개체 틀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73B7FE-E539-621F-FB57-20F7AF2E0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38" y="2736069"/>
            <a:ext cx="5394971" cy="2651765"/>
          </a:xfr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B3F8D9-7A4F-06F9-7D54-D4315F3FC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92" y="2827508"/>
            <a:ext cx="5394971" cy="24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69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289D8-5C76-5966-29ED-C63219C9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 (details)</a:t>
            </a:r>
            <a:endParaRPr lang="ko-KR" altLang="en-US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87ED957E-9D9E-F65B-B2ED-ECA2D13CF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533810"/>
              </p:ext>
            </p:extLst>
          </p:nvPr>
        </p:nvGraphicFramePr>
        <p:xfrm>
          <a:off x="838200" y="2314513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566">
                  <a:extLst>
                    <a:ext uri="{9D8B030D-6E8A-4147-A177-3AD203B41FA5}">
                      <a16:colId xmlns:a16="http://schemas.microsoft.com/office/drawing/2014/main" val="1350225089"/>
                    </a:ext>
                  </a:extLst>
                </a:gridCol>
                <a:gridCol w="2725345">
                  <a:extLst>
                    <a:ext uri="{9D8B030D-6E8A-4147-A177-3AD203B41FA5}">
                      <a16:colId xmlns:a16="http://schemas.microsoft.com/office/drawing/2014/main" val="3444843931"/>
                    </a:ext>
                  </a:extLst>
                </a:gridCol>
                <a:gridCol w="2725344">
                  <a:extLst>
                    <a:ext uri="{9D8B030D-6E8A-4147-A177-3AD203B41FA5}">
                      <a16:colId xmlns:a16="http://schemas.microsoft.com/office/drawing/2014/main" val="1660842448"/>
                    </a:ext>
                  </a:extLst>
                </a:gridCol>
                <a:gridCol w="2725345">
                  <a:extLst>
                    <a:ext uri="{9D8B030D-6E8A-4147-A177-3AD203B41FA5}">
                      <a16:colId xmlns:a16="http://schemas.microsoft.com/office/drawing/2014/main" val="655163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Judge Model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Llama win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Qwen win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Tie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45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GPT-4o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463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Llama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395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418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Qwen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343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462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287596"/>
                  </a:ext>
                </a:extLst>
              </a:tr>
            </a:tbl>
          </a:graphicData>
        </a:graphic>
      </p:graphicFrame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28C3C25-114A-2B52-A9D7-DD1C6298CB4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Pair-wise test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r>
              <a:rPr lang="en-US" altLang="ko-KR" dirty="0"/>
              <a:t>Point-wise test</a:t>
            </a:r>
          </a:p>
          <a:p>
            <a:pPr lvl="1"/>
            <a:r>
              <a:rPr lang="en-US" altLang="ko-KR" dirty="0"/>
              <a:t>Alpaca Eval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18FE17F-7967-9B37-87BA-C72F15065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223600"/>
              </p:ext>
            </p:extLst>
          </p:nvPr>
        </p:nvGraphicFramePr>
        <p:xfrm>
          <a:off x="838199" y="4286761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9567236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056686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366604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26085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58510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Judge Model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Llama mean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Llama std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Qwen mean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Qwen std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28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GPT-4o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75.76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31.99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81.23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27.96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58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Llama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78.92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23.23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79.81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22.97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66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Qwen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81.37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11.79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80.55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13.75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195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701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B44B-8B91-494F-D735-ACB49C43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5A3954-8D73-C318-94D7-1A025A28E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7D64EF-5729-DC36-6E1F-5F943F12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Control of Variables</a:t>
            </a:r>
          </a:p>
          <a:p>
            <a:pPr lvl="1"/>
            <a:r>
              <a:rPr lang="en-US" altLang="ko-KR" dirty="0"/>
              <a:t>Control of Variables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위해 프롬프트 고정 </a:t>
            </a:r>
            <a:r>
              <a:rPr lang="en-US" altLang="ko-KR" dirty="0"/>
              <a:t>/ </a:t>
            </a:r>
            <a:r>
              <a:rPr lang="ko-KR" altLang="en-US" dirty="0"/>
              <a:t>동일한 </a:t>
            </a:r>
            <a:r>
              <a:rPr lang="en-US" altLang="ko-KR" dirty="0"/>
              <a:t>benchmark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두 요인이 </a:t>
            </a:r>
            <a:r>
              <a:rPr lang="en-US" altLang="ko-KR" dirty="0">
                <a:sym typeface="Wingdings" panose="05000000000000000000" pitchFamily="2" charset="2"/>
              </a:rPr>
              <a:t>point-wise</a:t>
            </a:r>
            <a:r>
              <a:rPr lang="ko-KR" altLang="en-US" dirty="0">
                <a:sym typeface="Wingdings" panose="05000000000000000000" pitchFamily="2" charset="2"/>
              </a:rPr>
              <a:t>에서의 </a:t>
            </a:r>
            <a:r>
              <a:rPr lang="en-US" altLang="ko-KR" dirty="0">
                <a:sym typeface="Wingdings" panose="05000000000000000000" pitchFamily="2" charset="2"/>
              </a:rPr>
              <a:t>self-preference bias </a:t>
            </a:r>
            <a:r>
              <a:rPr lang="ko-KR" altLang="en-US" dirty="0">
                <a:sym typeface="Wingdings" panose="05000000000000000000" pitchFamily="2" charset="2"/>
              </a:rPr>
              <a:t>탐지 실패의 요인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Alpaca Eval set</a:t>
            </a:r>
            <a:r>
              <a:rPr lang="ko-KR" altLang="en-US" dirty="0">
                <a:sym typeface="Wingdings" panose="05000000000000000000" pitchFamily="2" charset="2"/>
              </a:rPr>
              <a:t>은 </a:t>
            </a:r>
            <a:r>
              <a:rPr lang="en-US" altLang="ko-KR" dirty="0">
                <a:sym typeface="Wingdings" panose="05000000000000000000" pitchFamily="2" charset="2"/>
              </a:rPr>
              <a:t>point-wise </a:t>
            </a:r>
            <a:r>
              <a:rPr lang="ko-KR" altLang="en-US" dirty="0">
                <a:sym typeface="Wingdings" panose="05000000000000000000" pitchFamily="2" charset="2"/>
              </a:rPr>
              <a:t>평가는 다소 부적합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Self preference at point-wise</a:t>
            </a:r>
          </a:p>
          <a:p>
            <a:pPr lvl="1"/>
            <a:r>
              <a:rPr lang="en-US" altLang="ko-KR" dirty="0"/>
              <a:t>LLM Evaluators Recognize and Favor Their Own Generations</a:t>
            </a:r>
            <a:r>
              <a:rPr lang="en-US" altLang="ko-KR" baseline="30000" dirty="0"/>
              <a:t>[4]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Pair-wise, point-wise </a:t>
            </a:r>
            <a:r>
              <a:rPr lang="ko-KR" altLang="en-US" dirty="0">
                <a:sym typeface="Wingdings" panose="05000000000000000000" pitchFamily="2" charset="2"/>
              </a:rPr>
              <a:t>두 경우 모두 </a:t>
            </a:r>
            <a:r>
              <a:rPr lang="en-US" altLang="ko-KR" dirty="0">
                <a:sym typeface="Wingdings" panose="05000000000000000000" pitchFamily="2" charset="2"/>
              </a:rPr>
              <a:t>bias</a:t>
            </a:r>
            <a:r>
              <a:rPr lang="ko-KR" altLang="en-US" dirty="0">
                <a:sym typeface="Wingdings" panose="05000000000000000000" pitchFamily="2" charset="2"/>
              </a:rPr>
              <a:t>가 측정됨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51179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FE878-05B3-8CBA-C2A4-75F70CD4D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D5A36-42E4-CB0B-530A-6C0F8714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125A88-4EFC-E51D-6587-40228F9CF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Self preference at point-wise</a:t>
            </a:r>
          </a:p>
          <a:p>
            <a:pPr lvl="1"/>
            <a:r>
              <a:rPr lang="da-DK" altLang="ko-KR" dirty="0"/>
              <a:t>CheckEval (Lee et al., 2025)</a:t>
            </a:r>
            <a:r>
              <a:rPr lang="da-DK" altLang="ko-KR" baseline="30000" dirty="0"/>
              <a:t>[5]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동일한 입력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모델에 대해서 결과가 달라짐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분산이 큼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/>
              <a:t>동일 샘플에 대한 점수 폭이 큼</a:t>
            </a:r>
            <a:endParaRPr lang="en-US" altLang="ko-KR" dirty="0"/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Large Language Models are Inconsistent and Biased Evaluators</a:t>
            </a:r>
            <a:r>
              <a:rPr lang="en-US" altLang="ko-KR" baseline="30000" dirty="0"/>
              <a:t>[6]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Point-wise </a:t>
            </a:r>
            <a:r>
              <a:rPr lang="ko-KR" altLang="en-US" dirty="0">
                <a:sym typeface="Wingdings" panose="05000000000000000000" pitchFamily="2" charset="2"/>
              </a:rPr>
              <a:t>방식의 경우 </a:t>
            </a:r>
            <a:r>
              <a:rPr lang="ko-KR" altLang="en-US" dirty="0"/>
              <a:t>일관된 레이블이 형성되기 </a:t>
            </a:r>
            <a:r>
              <a:rPr lang="ko-KR" altLang="en-US" dirty="0" err="1"/>
              <a:t>힘듬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10985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7574D-ABD6-C450-D1D8-EF17D329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EE22D-BFA3-48A4-A09B-31A060A7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526E4D-D542-879F-C4F5-F3AE9A9AF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dirty="0"/>
              <a:t>[1] Dubois, Y., Galambosi, B., Liang, P., &amp; Hashimoto, T. B. (2024). </a:t>
            </a:r>
            <a:r>
              <a:rPr lang="en-US" altLang="ko-KR" sz="1200" i="1" dirty="0"/>
              <a:t>Length-Controlled </a:t>
            </a:r>
            <a:r>
              <a:rPr lang="en-US" altLang="ko-KR" sz="1200" i="1" dirty="0" err="1"/>
              <a:t>AlpacaEval</a:t>
            </a:r>
            <a:r>
              <a:rPr lang="en-US" altLang="ko-KR" sz="1200" i="1" dirty="0"/>
              <a:t>: A Simple Way to Debias Automatic Evaluators</a:t>
            </a:r>
            <a:r>
              <a:rPr lang="en-US" altLang="ko-KR" sz="1200" dirty="0"/>
              <a:t>. </a:t>
            </a:r>
            <a:r>
              <a:rPr lang="en-US" altLang="ko-KR" sz="1200" dirty="0" err="1"/>
              <a:t>arXiv</a:t>
            </a:r>
            <a:r>
              <a:rPr lang="en-US" altLang="ko-KR" sz="1200" dirty="0"/>
              <a:t> preprint arXiv:2404.04475. </a:t>
            </a:r>
            <a:r>
              <a:rPr lang="en-US" altLang="ko-KR" sz="1200" dirty="0">
                <a:hlinkClick r:id="rId2"/>
              </a:rPr>
              <a:t>https://arxiv.org/pdf/2404.04475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[2Li, Q., Dou, S., Shao, K., Chen, C., &amp; Hu, H. (2025). </a:t>
            </a:r>
            <a:r>
              <a:rPr lang="en-US" altLang="ko-KR" sz="1200" i="1" dirty="0"/>
              <a:t>Evaluating Scoring Bias in LLM-as-a-Judge</a:t>
            </a:r>
            <a:r>
              <a:rPr lang="en-US" altLang="ko-KR" sz="1200" dirty="0"/>
              <a:t>. </a:t>
            </a:r>
            <a:r>
              <a:rPr lang="en-US" altLang="ko-KR" sz="1200" dirty="0" err="1"/>
              <a:t>arXiv</a:t>
            </a:r>
            <a:r>
              <a:rPr lang="en-US" altLang="ko-KR" sz="1200" dirty="0"/>
              <a:t> preprint arXiv:2506.22316. </a:t>
            </a:r>
            <a:r>
              <a:rPr lang="en-US" altLang="ko-KR" sz="1200" dirty="0">
                <a:hlinkClick r:id="rId3"/>
              </a:rPr>
              <a:t>https://arxiv.org/pdf/2506.22316 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[3] Chen, Z.-Y., Wang, H., Zhang, X., Hu, E., &amp; Lin, Y. (2025). </a:t>
            </a:r>
            <a:r>
              <a:rPr lang="en-US" altLang="ko-KR" sz="1200" i="1" dirty="0"/>
              <a:t>Beyond the Surface: Measuring Self-Preference in LLM Judgments</a:t>
            </a:r>
            <a:r>
              <a:rPr lang="en-US" altLang="ko-KR" sz="1200" dirty="0"/>
              <a:t>. </a:t>
            </a:r>
            <a:r>
              <a:rPr lang="en-US" altLang="ko-KR" sz="1200" dirty="0" err="1"/>
              <a:t>arXiv</a:t>
            </a:r>
            <a:r>
              <a:rPr lang="en-US" altLang="ko-KR" sz="1200" dirty="0"/>
              <a:t> preprint arXiv:2506.02592. </a:t>
            </a:r>
            <a:r>
              <a:rPr lang="en-US" altLang="ko-KR" sz="1200" dirty="0">
                <a:hlinkClick r:id="rId4"/>
              </a:rPr>
              <a:t>https://arxiv.org/pdf/2506.02592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[4] </a:t>
            </a:r>
            <a:r>
              <a:rPr lang="en-US" altLang="ko-KR" sz="1200" dirty="0" err="1"/>
              <a:t>Panickssery</a:t>
            </a:r>
            <a:r>
              <a:rPr lang="en-US" altLang="ko-KR" sz="1200" dirty="0"/>
              <a:t>, A., Bowman, S. R., &amp; Feng, S. (2024). </a:t>
            </a:r>
            <a:r>
              <a:rPr lang="en-US" altLang="ko-KR" sz="1200" i="1" dirty="0"/>
              <a:t>LLM Evaluators Recognize and Favor Their Own Generations</a:t>
            </a:r>
            <a:r>
              <a:rPr lang="en-US" altLang="ko-KR" sz="1200" dirty="0"/>
              <a:t>. </a:t>
            </a:r>
            <a:r>
              <a:rPr lang="en-US" altLang="ko-KR" sz="1200" dirty="0" err="1"/>
              <a:t>arXiv</a:t>
            </a:r>
            <a:r>
              <a:rPr lang="en-US" altLang="ko-KR" sz="1200" dirty="0"/>
              <a:t> preprint arXiv:2404.13076. </a:t>
            </a:r>
            <a:r>
              <a:rPr lang="en-US" altLang="ko-KR" sz="1200" dirty="0">
                <a:hlinkClick r:id="rId5"/>
              </a:rPr>
              <a:t>https://arxiv.org/pdf/2404.13076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[5] Lee, Y., Kim, J., Kim, J., Cho, H., Kang, J., Kang, P., &amp; Kim, N. (2024). </a:t>
            </a:r>
            <a:r>
              <a:rPr lang="en-US" altLang="ko-KR" sz="1200" i="1" dirty="0" err="1"/>
              <a:t>CheckEval</a:t>
            </a:r>
            <a:r>
              <a:rPr lang="en-US" altLang="ko-KR" sz="1200" i="1" dirty="0"/>
              <a:t>: A reliable LLM-as-a-Judge framework for evaluating text generation using checklists</a:t>
            </a:r>
            <a:r>
              <a:rPr lang="en-US" altLang="ko-KR" sz="1200" dirty="0"/>
              <a:t>. </a:t>
            </a:r>
            <a:r>
              <a:rPr lang="en-US" altLang="ko-KR" sz="1200" dirty="0" err="1"/>
              <a:t>arXiv</a:t>
            </a:r>
            <a:r>
              <a:rPr lang="en-US" altLang="ko-KR" sz="1200" dirty="0"/>
              <a:t> preprint arXiv:2403.18771. </a:t>
            </a:r>
            <a:r>
              <a:rPr lang="en-US" altLang="ko-KR" sz="1200" dirty="0">
                <a:hlinkClick r:id="rId6"/>
              </a:rPr>
              <a:t>https://arxiv.org/pdf/2403.18771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[6] </a:t>
            </a:r>
            <a:r>
              <a:rPr lang="en-US" altLang="ko-KR" sz="1200" dirty="0" err="1"/>
              <a:t>Stureborg</a:t>
            </a:r>
            <a:r>
              <a:rPr lang="en-US" altLang="ko-KR" sz="1200" dirty="0"/>
              <a:t>, R., </a:t>
            </a:r>
            <a:r>
              <a:rPr lang="en-US" altLang="ko-KR" sz="1200" dirty="0" err="1"/>
              <a:t>Alikaniotis</a:t>
            </a:r>
            <a:r>
              <a:rPr lang="en-US" altLang="ko-KR" sz="1200" dirty="0"/>
              <a:t>, D., &amp; </a:t>
            </a:r>
            <a:r>
              <a:rPr lang="en-US" altLang="ko-KR" sz="1200" dirty="0" err="1"/>
              <a:t>Suhara</a:t>
            </a:r>
            <a:r>
              <a:rPr lang="en-US" altLang="ko-KR" sz="1200" dirty="0"/>
              <a:t>, Y. (2024). </a:t>
            </a:r>
            <a:r>
              <a:rPr lang="en-US" altLang="ko-KR" sz="1200" i="1" dirty="0"/>
              <a:t>Large Language Models are Inconsistent and Biased Evaluators</a:t>
            </a:r>
            <a:r>
              <a:rPr lang="en-US" altLang="ko-KR" sz="1200" dirty="0"/>
              <a:t>. </a:t>
            </a:r>
            <a:r>
              <a:rPr lang="en-US" altLang="ko-KR" sz="1200" dirty="0" err="1"/>
              <a:t>arXiv</a:t>
            </a:r>
            <a:r>
              <a:rPr lang="en-US" altLang="ko-KR" sz="1200" dirty="0"/>
              <a:t> preprint arXiv:2405.01724. </a:t>
            </a:r>
            <a:r>
              <a:rPr lang="en-US" altLang="ko-KR" sz="1200" dirty="0">
                <a:hlinkClick r:id="rId7"/>
              </a:rPr>
              <a:t>https://arxiv.org/pdf/2405.01724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86480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616</Words>
  <Application>Microsoft Office PowerPoint</Application>
  <PresentationFormat>와이드스크린</PresentationFormat>
  <Paragraphs>99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Weekly Meeting</vt:lpstr>
      <vt:lpstr>Experiment setting</vt:lpstr>
      <vt:lpstr>Experiment setting</vt:lpstr>
      <vt:lpstr>Experiment setting</vt:lpstr>
      <vt:lpstr>Result</vt:lpstr>
      <vt:lpstr>Result (details)</vt:lpstr>
      <vt:lpstr>Discussion</vt:lpstr>
      <vt:lpstr>Discussion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이건</dc:creator>
  <cp:lastModifiedBy>이건</cp:lastModifiedBy>
  <cp:revision>21</cp:revision>
  <dcterms:created xsi:type="dcterms:W3CDTF">2025-06-26T16:03:04Z</dcterms:created>
  <dcterms:modified xsi:type="dcterms:W3CDTF">2025-07-10T17:48:35Z</dcterms:modified>
</cp:coreProperties>
</file>